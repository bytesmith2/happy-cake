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SHOP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Linh Kiện &amp; PC Gaming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DIAGRAM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luồng dữ liệu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SHOP Team — Hanoi, 04/2026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0"/>
          </a:xfrm>
          <a:prstGeom prst="line">
            <a:avLst/>
          </a:prstGeom>
          <a:noFill/>
          <a:ln w="508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Khái niệm Data Flow Diagram (DFD)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Các ký hiệu sử dụng trong DFD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DFD Level 0 — Context Diagram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DFD Level 1 — Phân rã hệ thống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DFD Level 2 — Process Quản lý đơn hàng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DFD Level 2 — Process Quản lý sản phẩm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Tổng kết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Khái niệm Data Flow Diagram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0"/>
          </a:xfrm>
          <a:prstGeom prst="line">
            <a:avLst/>
          </a:prstGeom>
          <a:noFill/>
          <a:ln w="508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Diagram (DFD) 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sơ đồ luồng dữ liệu, mô tả cách dữ liệu di chuyển trong hệ thống thông tin.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DFD bao gồm các cấp độ: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11274552" cy="1005840"/>
          </a:xfrm>
          <a:prstGeom prst="roundRect">
            <a:avLst/>
          </a:prstGeom>
          <a:solidFill>
            <a:srgbClr val="F4F4F4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0 (Context Diagram)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27432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Cấp tổng quan nhất, mô tả hệ thống là 1 process duy nhất tương tác với các thực thể bên ngoài.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11274552" cy="1005840"/>
          </a:xfrm>
          <a:prstGeom prst="roundRect">
            <a:avLst/>
          </a:prstGeom>
          <a:solidFill>
            <a:srgbClr val="F4F4F4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39319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rã hệ thống thành các process chính (functional decomposition).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5029200"/>
            <a:ext cx="11274552" cy="1005840"/>
          </a:xfrm>
          <a:prstGeom prst="roundRect">
            <a:avLst/>
          </a:prstGeom>
          <a:solidFill>
            <a:srgbClr val="F4F4F4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120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51206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rã chi tiết từng process trong Level 1 thành các sub-process.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ký hiệu trong DFD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0"/>
          </a:xfrm>
          <a:prstGeom prst="line">
            <a:avLst/>
          </a:prstGeom>
          <a:noFill/>
          <a:ln w="50800">
            <a:solidFill>
              <a:srgbClr val="FF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645920"/>
            <a:ext cx="2011680" cy="137160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6459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— Tiến trình xử lý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tròn / oval. Đại diện cho quá trình xử lý dữ liệu (function).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291840"/>
            <a:ext cx="2011680" cy="914400"/>
          </a:xfrm>
          <a:prstGeom prst="rect">
            <a:avLst/>
          </a:prstGeom>
          <a:solidFill>
            <a:srgbClr val="4A90E2"/>
          </a:solidFill>
          <a:ln w="25400">
            <a:solidFill>
              <a:srgbClr val="2A5D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2918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Entity — Thực thể ngoại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chữ nhật. Đại diện cho người dùng / hệ thống ngoài tương tác với hệ thống.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4663440"/>
            <a:ext cx="2011680" cy="731520"/>
          </a:xfrm>
          <a:prstGeom prst="rect">
            <a:avLst/>
          </a:prstGeom>
          <a:solidFill>
            <a:srgbClr val="50C878"/>
          </a:solidFill>
          <a:ln w="25400">
            <a:solidFill>
              <a:srgbClr val="338B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4663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 Users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663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 — Kho dữ liệu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0" y="5120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đường thẳng song song. Đại diện cho database table / file lưu trữ.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6035040"/>
            <a:ext cx="2011680" cy="0"/>
          </a:xfrm>
          <a:prstGeom prst="line">
            <a:avLst/>
          </a:prstGeom>
          <a:noFill/>
          <a:ln w="381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114800" y="5852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— Luồng dữ liệu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0" y="6309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Mũi tên có hướng. Đại diện cho luồng dữ liệu di chuyển giữa các thành phần.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DFD Level 0 — Context Diagram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0"/>
          </a:xfrm>
          <a:prstGeom prst="line">
            <a:avLst/>
          </a:prstGeom>
          <a:noFill/>
          <a:ln w="50800">
            <a:solidFill>
              <a:srgbClr val="FF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0"/>
            <a:ext cx="2286000" cy="1371600"/>
          </a:xfrm>
          <a:prstGeom prst="rect">
            <a:avLst/>
          </a:prstGeom>
          <a:solidFill>
            <a:srgbClr val="4A90E2"/>
          </a:solidFill>
          <a:ln w="25400">
            <a:solidFill>
              <a:srgbClr val="2A5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(Khách hàng)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2468880"/>
            <a:ext cx="3017520" cy="1920240"/>
          </a:xfrm>
          <a:prstGeom prst="ellipse">
            <a:avLst/>
          </a:prstGeom>
          <a:solidFill>
            <a:srgbClr val="FFA500"/>
          </a:solidFill>
          <a:ln w="38100">
            <a:solidFill>
              <a:srgbClr val="CC8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246888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SHOP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235440" y="2743200"/>
            <a:ext cx="2286000" cy="1371600"/>
          </a:xfrm>
          <a:prstGeom prst="rect">
            <a:avLst/>
          </a:prstGeom>
          <a:solidFill>
            <a:srgbClr val="4A90E2"/>
          </a:solidFill>
          <a:ln w="25400">
            <a:solidFill>
              <a:srgbClr val="2A5D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(Quản trị viên)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26080" y="3108960"/>
            <a:ext cx="164592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743200" y="2377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ký, đặt hàng,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flipH="1">
            <a:off x="2926080" y="3749040"/>
            <a:ext cx="164592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  <a:headEnd type="triangle"/>
          </a:ln>
        </p:spPr>
      </p:sp>
      <p:sp>
        <p:nvSpPr>
          <p:cNvPr id="13" name="Text 11"/>
          <p:cNvSpPr/>
          <p:nvPr/>
        </p:nvSpPr>
        <p:spPr>
          <a:xfrm>
            <a:off x="2743200" y="3931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phẩm, đơn hàng,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báo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3108960"/>
            <a:ext cx="164592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589520" y="2377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thống kê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9520" y="3749040"/>
            <a:ext cx="164592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  <a:headEnd type="triangle"/>
          </a:ln>
        </p:spPr>
      </p:sp>
      <p:sp>
        <p:nvSpPr>
          <p:cNvPr id="17" name="Text 15"/>
          <p:cNvSpPr/>
          <p:nvPr/>
        </p:nvSpPr>
        <p:spPr>
          <a:xfrm>
            <a:off x="7589520" y="3931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sản phẩm,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hàng, người dùng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ngữ cảnh thể hiện hệ thống PC SHOP tương tác với 2 thực thể bên ngoài: Customer và Admin.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DFD Level 1 — Phân rã hệ thống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0"/>
          </a:xfrm>
          <a:prstGeom prst="line">
            <a:avLst/>
          </a:prstGeom>
          <a:noFill/>
          <a:ln w="50800">
            <a:solidFill>
              <a:srgbClr val="FF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200400"/>
            <a:ext cx="1371600" cy="731520"/>
          </a:xfrm>
          <a:prstGeom prst="rect">
            <a:avLst/>
          </a:prstGeom>
          <a:solidFill>
            <a:srgbClr val="4A90E2"/>
          </a:solidFill>
          <a:ln w="25400">
            <a:solidFill>
              <a:srgbClr val="2A5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32004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0" y="3200400"/>
            <a:ext cx="1371600" cy="731520"/>
          </a:xfrm>
          <a:prstGeom prst="rect">
            <a:avLst/>
          </a:prstGeom>
          <a:solidFill>
            <a:srgbClr val="4A90E2"/>
          </a:solidFill>
          <a:ln w="25400">
            <a:solidFill>
              <a:srgbClr val="2A5D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32004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1371600"/>
            <a:ext cx="1828800" cy="128016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3716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khoản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1828800" cy="128016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3716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1371600"/>
            <a:ext cx="1828800" cy="128016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3716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giỏ hàng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5029200"/>
            <a:ext cx="1828800" cy="128016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50292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hàng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5029200"/>
            <a:ext cx="1828800" cy="128016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50292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kê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94560" y="5852160"/>
            <a:ext cx="1828800" cy="411480"/>
          </a:xfrm>
          <a:prstGeom prst="rect">
            <a:avLst/>
          </a:prstGeom>
          <a:solidFill>
            <a:srgbClr val="50C878"/>
          </a:solidFill>
          <a:ln w="25400">
            <a:solidFill>
              <a:srgbClr val="338B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5852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  Users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0" y="3200400"/>
            <a:ext cx="1828800" cy="411480"/>
          </a:xfrm>
          <a:prstGeom prst="rect">
            <a:avLst/>
          </a:prstGeom>
          <a:solidFill>
            <a:srgbClr val="50C878"/>
          </a:solidFill>
          <a:ln w="25400">
            <a:solidFill>
              <a:srgbClr val="338B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  Categories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3200400"/>
            <a:ext cx="1828800" cy="411480"/>
          </a:xfrm>
          <a:prstGeom prst="rect">
            <a:avLst/>
          </a:prstGeom>
          <a:solidFill>
            <a:srgbClr val="50C878"/>
          </a:solidFill>
          <a:ln w="25400">
            <a:solidFill>
              <a:srgbClr val="338B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   Products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778240" y="5029200"/>
            <a:ext cx="1828800" cy="411480"/>
          </a:xfrm>
          <a:prstGeom prst="rect">
            <a:avLst/>
          </a:prstGeom>
          <a:solidFill>
            <a:srgbClr val="50C878"/>
          </a:solidFill>
          <a:ln w="25400">
            <a:solidFill>
              <a:srgbClr val="338B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5029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   Orders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78240" y="5852160"/>
            <a:ext cx="1828800" cy="411480"/>
          </a:xfrm>
          <a:prstGeom prst="rect">
            <a:avLst/>
          </a:prstGeom>
          <a:solidFill>
            <a:srgbClr val="50C878"/>
          </a:solidFill>
          <a:ln w="25400">
            <a:solidFill>
              <a:srgbClr val="338B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5852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   OrderItems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645920" y="3291840"/>
            <a:ext cx="548640" cy="-10972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645920" y="3566160"/>
            <a:ext cx="5303520" cy="-128016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645920" y="3840480"/>
            <a:ext cx="3840480" cy="15544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515600" y="3383280"/>
            <a:ext cx="-4023360" cy="-128016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515600" y="3657600"/>
            <a:ext cx="-3383280" cy="182880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Process chính của hệ thống PC SHOP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DFD Level 1 — Mô tả các Process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0"/>
          </a:xfrm>
          <a:prstGeom prst="line">
            <a:avLst/>
          </a:prstGeom>
          <a:noFill/>
          <a:ln w="50800">
            <a:solidFill>
              <a:srgbClr val="FF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1097280" cy="82296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tài khoản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1691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ký, đăng nhập, đăng xuất, cập nhật profile, đổi mật khẩu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D1: Users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097280" cy="82296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sản phẩm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2697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thị, tìm kiếm, lọc sản phẩm. Admin: CRUD danh mục &amp; sản phẩm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D2: Categories, D3: Products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1097280" cy="82296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918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giỏ hàng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37033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Thêm, xóa, cập nhật số lượng sản phẩm trong giỏ (session)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3474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1097280" cy="82296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976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37360" y="4297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đơn hàng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4709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đơn hàng, xem lịch sử, cập nhật trạng thái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4480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D4: Orders, D5: OrderItems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303520"/>
            <a:ext cx="1097280" cy="82296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3035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37360" y="5303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thống kê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37360" y="5715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cho admin: số liệu, doanh thu, đơn theo trạng thái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5486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D1, D3, D4, D5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DFD Level 2 — Process 4.0 Quản lý đơn hàng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0"/>
          </a:xfrm>
          <a:prstGeom prst="line">
            <a:avLst/>
          </a:prstGeom>
          <a:noFill/>
          <a:ln w="50800">
            <a:solidFill>
              <a:srgbClr val="FF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200400"/>
            <a:ext cx="1463040" cy="822960"/>
          </a:xfrm>
          <a:prstGeom prst="rect">
            <a:avLst/>
          </a:prstGeom>
          <a:solidFill>
            <a:srgbClr val="4A90E2"/>
          </a:solidFill>
          <a:ln w="25400">
            <a:solidFill>
              <a:srgbClr val="2A5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3200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424160" y="3200400"/>
            <a:ext cx="1463040" cy="822960"/>
          </a:xfrm>
          <a:prstGeom prst="rect">
            <a:avLst/>
          </a:prstGeom>
          <a:solidFill>
            <a:srgbClr val="4A90E2"/>
          </a:solidFill>
          <a:ln w="25400">
            <a:solidFill>
              <a:srgbClr val="2A5D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1737360" cy="118872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3716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đơn hàng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1737360" cy="118872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716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chi tiết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hàng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1371600"/>
            <a:ext cx="1737360" cy="118872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3716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trạng thái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4572000"/>
            <a:ext cx="1737360" cy="118872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4572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Hủy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hàng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4572000"/>
            <a:ext cx="1737360" cy="118872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4572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hàng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0" y="3291840"/>
            <a:ext cx="1554480" cy="365760"/>
          </a:xfrm>
          <a:prstGeom prst="rect">
            <a:avLst/>
          </a:prstGeom>
          <a:solidFill>
            <a:srgbClr val="50C878"/>
          </a:solidFill>
          <a:ln w="25400">
            <a:solidFill>
              <a:srgbClr val="338B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   Orders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3291840"/>
            <a:ext cx="1737360" cy="365760"/>
          </a:xfrm>
          <a:prstGeom prst="rect">
            <a:avLst/>
          </a:prstGeom>
          <a:solidFill>
            <a:srgbClr val="50C878"/>
          </a:solidFill>
          <a:ln w="25400">
            <a:solidFill>
              <a:srgbClr val="338B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   OrderItems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737360" y="3383280"/>
            <a:ext cx="1005840" cy="-118872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737360" y="3840480"/>
            <a:ext cx="3291840" cy="137160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424160" y="3383280"/>
            <a:ext cx="-3200400" cy="-118872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424160" y="3657600"/>
            <a:ext cx="-1371600" cy="-15544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657600" y="2560320"/>
            <a:ext cx="914400" cy="73152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0" y="3291840"/>
            <a:ext cx="731520" cy="-73152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7772400" y="2560320"/>
            <a:ext cx="-2286000" cy="73152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4.0 được phân rã thành 5 sub-process chi tiết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DFD Level 2 — Process 2.0 Quản lý sản phẩm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0"/>
          </a:xfrm>
          <a:prstGeom prst="line">
            <a:avLst/>
          </a:prstGeom>
          <a:noFill/>
          <a:ln w="50800">
            <a:solidFill>
              <a:srgbClr val="FF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200400"/>
            <a:ext cx="1463040" cy="822960"/>
          </a:xfrm>
          <a:prstGeom prst="rect">
            <a:avLst/>
          </a:prstGeom>
          <a:solidFill>
            <a:srgbClr val="4A90E2"/>
          </a:solidFill>
          <a:ln w="25400">
            <a:solidFill>
              <a:srgbClr val="2A5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3200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424160" y="3200400"/>
            <a:ext cx="1463040" cy="822960"/>
          </a:xfrm>
          <a:prstGeom prst="rect">
            <a:avLst/>
          </a:prstGeom>
          <a:solidFill>
            <a:srgbClr val="4A90E2"/>
          </a:solidFill>
          <a:ln w="25400">
            <a:solidFill>
              <a:srgbClr val="2A5D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3200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1280160"/>
            <a:ext cx="1737360" cy="118872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2801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1737360" cy="118872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2801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737360" cy="118872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2801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theo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mục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1280160"/>
            <a:ext cx="1737360" cy="118872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2801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mục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4572000"/>
            <a:ext cx="1737360" cy="118872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572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4572000"/>
            <a:ext cx="1737360" cy="1188720"/>
          </a:xfrm>
          <a:prstGeom prst="ellipse">
            <a:avLst/>
          </a:prstGeom>
          <a:solidFill>
            <a:srgbClr val="FFA500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4572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chi tiết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200400"/>
            <a:ext cx="1737360" cy="365760"/>
          </a:xfrm>
          <a:prstGeom prst="rect">
            <a:avLst/>
          </a:prstGeom>
          <a:solidFill>
            <a:srgbClr val="50C878"/>
          </a:solidFill>
          <a:ln w="25400">
            <a:solidFill>
              <a:srgbClr val="338B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3200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  Categories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3200400"/>
            <a:ext cx="1554480" cy="365760"/>
          </a:xfrm>
          <a:prstGeom prst="rect">
            <a:avLst/>
          </a:prstGeom>
          <a:solidFill>
            <a:srgbClr val="50C878"/>
          </a:solidFill>
          <a:ln w="25400">
            <a:solidFill>
              <a:srgbClr val="338B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200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   Products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2.0 được phân rã thành 6 sub-process chi tiết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DFD Level 0: Hệ thống PC SHOP tương tác với 2 thực thể: Customer và Admin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DFD Level 1: Hệ thống được phân rã thành 5 process chính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DFD Level 2: Phân rã chi tiết Process 2.0 và 4.0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 Data Stores: Users, Categories, Products, Orders, OrderItems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663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Mỗi luồng dữ liệu đều có ý nghĩa rõ ràng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đã theo dõi!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Flow Diagram - PC SHOP</dc:title>
  <dc:subject>PptxGenJS Presentation</dc:subject>
  <dc:creator>PC SHOP Team</dc:creator>
  <cp:lastModifiedBy>PC SHOP Team</cp:lastModifiedBy>
  <cp:revision>1</cp:revision>
  <dcterms:created xsi:type="dcterms:W3CDTF">2026-04-28T16:15:53Z</dcterms:created>
  <dcterms:modified xsi:type="dcterms:W3CDTF">2026-04-28T16:15:53Z</dcterms:modified>
</cp:coreProperties>
</file>